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0287000" cx="18288000"/>
  <p:notesSz cx="10287000" cy="18288000"/>
  <p:embeddedFontLst>
    <p:embeddedFont>
      <p:font typeface="Sor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gxz/M7wmnPtianMp+D7yMzOKP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ora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7" name="Google Shape;61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11811000" y="-2667000"/>
            <a:ext cx="8763000" cy="8763000"/>
          </a:xfrm>
          <a:prstGeom prst="ellipse">
            <a:avLst/>
          </a:prstGeom>
          <a:gradFill>
            <a:gsLst>
              <a:gs pos="0">
                <a:srgbClr val="6C5CFF">
                  <a:alpha val="40000"/>
                </a:srgbClr>
              </a:gs>
              <a:gs pos="44000">
                <a:srgbClr val="00E0C2">
                  <a:alpha val="16078"/>
                </a:srgbClr>
              </a:gs>
              <a:gs pos="70000">
                <a:srgbClr val="00E0C2">
                  <a:alpha val="0"/>
                </a:srgbClr>
              </a:gs>
              <a:gs pos="100000">
                <a:srgbClr val="00E0C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13" y="2011772"/>
            <a:ext cx="8368700" cy="318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962628" y="5562551"/>
            <a:ext cx="1428900" cy="573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E0C2"/>
              </a:gs>
              <a:gs pos="42000">
                <a:srgbClr val="2563EB"/>
              </a:gs>
              <a:gs pos="72000">
                <a:srgbClr val="6C5CFF"/>
              </a:gs>
              <a:gs pos="100000">
                <a:srgbClr val="FF4D9D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914400" y="5794434"/>
            <a:ext cx="18105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28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Sora"/>
              <a:buNone/>
            </a:pPr>
            <a:r>
              <a:rPr b="1" lang="en-US" sz="46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Definición del Proyecto APT</a:t>
            </a:r>
            <a:endParaRPr sz="4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7823359"/>
            <a:ext cx="164592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8192929"/>
            <a:ext cx="427482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8D99AA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INTEGRANTES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8502491"/>
            <a:ext cx="4002786" cy="908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341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Font typeface="Sora"/>
              <a:buNone/>
            </a:pPr>
            <a:r>
              <a:rPr b="1" lang="en-US" sz="157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Bryan Chávez </a:t>
            </a:r>
            <a:endParaRPr/>
          </a:p>
          <a:p>
            <a:pPr indent="0" lvl="0" marL="0" marR="0" rtl="0" algn="l">
              <a:lnSpc>
                <a:spcPct val="115341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Font typeface="Sora"/>
              <a:buNone/>
            </a:pPr>
            <a:r>
              <a:rPr b="1" lang="en-US" sz="157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Catalina Pescio</a:t>
            </a:r>
            <a:endParaRPr b="1" sz="1575">
              <a:solidFill>
                <a:srgbClr val="F8FAFC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341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Font typeface="Sora"/>
              <a:buNone/>
            </a:pPr>
            <a:r>
              <a:rPr b="1" lang="en-US" sz="157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Emilio Fuentes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105400" y="8192929"/>
            <a:ext cx="427482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8D99AA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CARRERA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105400" y="8502491"/>
            <a:ext cx="4274820" cy="3281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341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Font typeface="Sora"/>
              <a:buNone/>
            </a:pPr>
            <a:r>
              <a:rPr b="1" lang="en-US" sz="157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Ingeniería en Informática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296400" y="8192929"/>
            <a:ext cx="427482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8D99AA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SEDE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296400" y="8502491"/>
            <a:ext cx="4274820" cy="3281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341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Font typeface="Sora"/>
              <a:buNone/>
            </a:pPr>
            <a:r>
              <a:rPr b="1" lang="en-US" sz="157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Duoc UC Plaza Norte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71225" y="575159"/>
            <a:ext cx="2190750" cy="105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" title="ChatGPT Image 27 ago 2026, 09_19_24 p.m.-Photoroom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400" y="530670"/>
            <a:ext cx="3428526" cy="11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22946" y="357813"/>
            <a:ext cx="1428900" cy="1422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2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914400" y="762000"/>
            <a:ext cx="181051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PRESENTACIÓN FASE 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1190625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Agenda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047875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Puntos que cubre esta presentación, según la Guía del Estudiante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2943225"/>
            <a:ext cx="81153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83970" y="3500438"/>
            <a:ext cx="55590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3150"/>
              <a:buFont typeface="Sora"/>
              <a:buNone/>
            </a:pPr>
            <a:r>
              <a:rPr b="1" lang="en-US" sz="31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030373" y="3412331"/>
            <a:ext cx="4671393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207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Equipo de trabajo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030373" y="3902869"/>
            <a:ext cx="46713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Antecedentes personales de los integrantes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258300" y="2943225"/>
            <a:ext cx="81153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627870" y="3500438"/>
            <a:ext cx="638294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3150"/>
              <a:buFont typeface="Sora"/>
              <a:buNone/>
            </a:pPr>
            <a:r>
              <a:rPr b="1" lang="en-US" sz="31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456664" y="3412331"/>
            <a:ext cx="4908971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207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Descripción del proyecto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456664" y="3902869"/>
            <a:ext cx="49089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Nombre, áreas de desempeño y competencias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4886325"/>
            <a:ext cx="81153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83970" y="5443538"/>
            <a:ext cx="63912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3150"/>
              <a:buFont typeface="Sora"/>
              <a:buNone/>
            </a:pPr>
            <a:r>
              <a:rPr b="1" lang="en-US" sz="31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113598" y="5355431"/>
            <a:ext cx="459111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207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Fundamentación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113598" y="5845969"/>
            <a:ext cx="45911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Relevancia, pertinencia y stack tecnológico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258300" y="4886325"/>
            <a:ext cx="81153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627870" y="5443538"/>
            <a:ext cx="656749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3150"/>
              <a:buFont typeface="Sora"/>
              <a:buNone/>
            </a:pPr>
            <a:r>
              <a:rPr b="1" lang="en-US" sz="31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475119" y="5355431"/>
            <a:ext cx="4895612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207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Objetivos y modelo de negocio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475119" y="5845969"/>
            <a:ext cx="48956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Objetivo general, específicos y canvas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14400" y="6829425"/>
            <a:ext cx="81153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83970" y="7386638"/>
            <a:ext cx="644366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3150"/>
              <a:buFont typeface="Sora"/>
              <a:buNone/>
            </a:pPr>
            <a:r>
              <a:rPr b="1" lang="en-US" sz="31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118836" y="7298531"/>
            <a:ext cx="4621887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207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Metodología y evidencias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118836" y="7789069"/>
            <a:ext cx="46218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Cómo se aborda el proyecto y qué se evalúa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258300" y="6829425"/>
            <a:ext cx="81153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27870" y="7386638"/>
            <a:ext cx="66234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3150"/>
              <a:buFont typeface="Sora"/>
              <a:buNone/>
            </a:pPr>
            <a:r>
              <a:rPr b="1" lang="en-US" sz="31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480715" y="7298531"/>
            <a:ext cx="4478346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207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Plan de trabajo y Carta Gantt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480715" y="7789069"/>
            <a:ext cx="44783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Actividades, responsables y calendario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7272635" y="9625013"/>
            <a:ext cx="17716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485900" y="842963"/>
            <a:ext cx="213269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 · PUNTO 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Equipo de trabajo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Equipo Código Creativo · Ingeniería en Informática · Duoc UC Plaza Norte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14400" y="3105150"/>
            <a:ext cx="5283300" cy="5764200"/>
          </a:xfrm>
          <a:prstGeom prst="roundRect">
            <a:avLst>
              <a:gd fmla="val 30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303106" y="6213050"/>
            <a:ext cx="4641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8505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Bryan Alexis Chávez Valdebenito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53969" y="7215276"/>
            <a:ext cx="4956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Developer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302995" y="7669058"/>
            <a:ext cx="4641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Análisis, diseño, modelamiento de datos, desarrollo web y móvil, integraciones, pruebas y documentación técnica.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502350" y="3105150"/>
            <a:ext cx="5283300" cy="5764200"/>
          </a:xfrm>
          <a:prstGeom prst="roundRect">
            <a:avLst>
              <a:gd fmla="val 30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823469" y="6278013"/>
            <a:ext cx="4641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8505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Catalina Alexandra Pescio Barrios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860069" y="7215220"/>
            <a:ext cx="4956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Product Owner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23519" y="7624743"/>
            <a:ext cx="4641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Representa las necesidades del producto, administra y prioriza el Product Backlog y valida los incrementos.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2090325" y="3105150"/>
            <a:ext cx="5283300" cy="5764200"/>
          </a:xfrm>
          <a:prstGeom prst="roundRect">
            <a:avLst>
              <a:gd fmla="val 30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2478991" y="6278038"/>
            <a:ext cx="4641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8505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Emilio Andrés Fuentes </a:t>
            </a:r>
            <a:endParaRPr b="1" sz="2175">
              <a:solidFill>
                <a:srgbClr val="0B0F1A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ctr">
              <a:lnSpc>
                <a:spcPct val="98505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175"/>
              <a:buFont typeface="Sora"/>
              <a:buNone/>
            </a:pPr>
            <a:r>
              <a:rPr b="1" lang="en-US" sz="21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Schreen</a:t>
            </a:r>
            <a:endParaRPr sz="2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2479041" y="7149934"/>
            <a:ext cx="4956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Scrum Master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479041" y="7581820"/>
            <a:ext cx="4641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Facilita la aplicación de Scrum, coordina los eventos de la metodología y gestiona los impedimentos del equipo.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7273112" y="9625013"/>
            <a:ext cx="176689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5275" y="3323475"/>
            <a:ext cx="2546700" cy="2546700"/>
          </a:xfrm>
          <a:prstGeom prst="ellipse">
            <a:avLst/>
          </a:prstGeom>
          <a:noFill/>
          <a:ln cap="rnd" cmpd="sng" w="38100">
            <a:solidFill>
              <a:srgbClr val="C8C6B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>
              <a:srgbClr val="000000"/>
            </a:outerShdw>
          </a:effectLst>
        </p:spPr>
      </p:pic>
      <p:pic>
        <p:nvPicPr>
          <p:cNvPr id="87" name="Google Shape;8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96050" y="3359588"/>
            <a:ext cx="2647800" cy="2607000"/>
          </a:xfrm>
          <a:prstGeom prst="ellipse">
            <a:avLst/>
          </a:prstGeom>
          <a:noFill/>
          <a:ln cap="rnd" cmpd="sng" w="38100">
            <a:solidFill>
              <a:srgbClr val="C8C6B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>
              <a:srgbClr val="000000"/>
            </a:outerShdw>
          </a:effectLst>
        </p:spPr>
      </p:pic>
      <p:pic>
        <p:nvPicPr>
          <p:cNvPr id="88" name="Google Shape;88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6846" y="3285398"/>
            <a:ext cx="2795400" cy="2814600"/>
          </a:xfrm>
          <a:prstGeom prst="ellipse">
            <a:avLst/>
          </a:prstGeom>
          <a:noFill/>
          <a:ln cap="rnd" cmpd="sng" w="38100">
            <a:solidFill>
              <a:srgbClr val="C8C6B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>
              <a:srgbClr val="000000"/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485900" y="842963"/>
            <a:ext cx="21708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 · PUNTO 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Descripción del Proyecto APT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Nombre del proyecto, áreas de desempeño y competencias del perfil de egreso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14400" y="3028950"/>
            <a:ext cx="7342823" cy="2036921"/>
          </a:xfrm>
          <a:prstGeom prst="roundRect">
            <a:avLst>
              <a:gd fmla="val 10288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95400" y="3371850"/>
            <a:ext cx="723890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8D99AA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NOMBRE DEL PROYECTO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295400" y="3738563"/>
            <a:ext cx="723890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187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Sora"/>
              <a:buNone/>
            </a:pPr>
            <a:r>
              <a:rPr b="1" lang="en-US" sz="300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SIGMA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295400" y="4405313"/>
            <a:ext cx="7238905" cy="35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Clr>
                <a:srgbClr val="A8B2C3"/>
              </a:buClr>
              <a:buSzPts val="1725"/>
              <a:buFont typeface="Sora"/>
              <a:buNone/>
            </a:pPr>
            <a:r>
              <a:rPr lang="en-US" sz="1725">
                <a:solidFill>
                  <a:srgbClr val="A8B2C3"/>
                </a:solidFill>
                <a:latin typeface="Sora"/>
                <a:ea typeface="Sora"/>
                <a:cs typeface="Sora"/>
                <a:sym typeface="Sora"/>
              </a:rPr>
              <a:t>Sistema Integrado de Gestión de Mantenimiento Industrial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14400" y="5294472"/>
            <a:ext cx="7342823" cy="3694747"/>
          </a:xfrm>
          <a:prstGeom prst="roundRect">
            <a:avLst>
              <a:gd fmla="val 412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303020" y="5625941"/>
            <a:ext cx="7222141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ÁREAS DE DESEMPEÑO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303020" y="6030754"/>
            <a:ext cx="7222141" cy="31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Desarrollo de Aplicación Web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303020" y="6444139"/>
            <a:ext cx="7222141" cy="31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Desarrollo de Aplicación Móvil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303020" y="6857524"/>
            <a:ext cx="7222141" cy="31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Modelamiento de Base de Datos SQL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303020" y="7270909"/>
            <a:ext cx="7222141" cy="31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Programación de Base de Datos PL/SQL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303020" y="7684294"/>
            <a:ext cx="7222141" cy="31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Gestión de Proyectos Tecnológicos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303020" y="8097679"/>
            <a:ext cx="6762550" cy="5981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3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Automatización y Transformación Digital de Procesos Industriales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534298" y="3342275"/>
            <a:ext cx="8811600" cy="5093100"/>
          </a:xfrm>
          <a:prstGeom prst="roundRect">
            <a:avLst>
              <a:gd fmla="val 29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909718" y="3462582"/>
            <a:ext cx="8837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COMPETENCIAS QUE SE PONDRÁN EN PRÁCTICA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950643" y="3784283"/>
            <a:ext cx="381000" cy="381000"/>
          </a:xfrm>
          <a:prstGeom prst="roundRect">
            <a:avLst>
              <a:gd fmla="val 25000" name="adj"/>
            </a:avLst>
          </a:prstGeom>
          <a:solidFill>
            <a:srgbClr val="6C5C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915393" y="3765221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C1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475368" y="3761971"/>
            <a:ext cx="7706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y generar soluciones de software innovadoras y de calidad, aplicando el ciclo de vida de éste y las mejores prácticas de la industria.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950643" y="4480560"/>
            <a:ext cx="381000" cy="381000"/>
          </a:xfrm>
          <a:prstGeom prst="roundRect">
            <a:avLst>
              <a:gd fmla="val 25000" name="adj"/>
            </a:avLst>
          </a:prstGeom>
          <a:solidFill>
            <a:srgbClr val="6C5C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915393" y="4461523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C2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441518" y="4431048"/>
            <a:ext cx="7706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y generar soluciones que resuelvan los requerimientos de información de las organizaciones, con bases de datos relacionales y no relacionales.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950643" y="5176838"/>
            <a:ext cx="381000" cy="381000"/>
          </a:xfrm>
          <a:prstGeom prst="roundRect">
            <a:avLst>
              <a:gd fmla="val 25000" name="adj"/>
            </a:avLst>
          </a:prstGeom>
          <a:solidFill>
            <a:srgbClr val="6C5C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912543" y="515038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C3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411851" y="5143030"/>
            <a:ext cx="7706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y adaptar los procesos de ingeniería de requisitos mediante metodologías y estándares de la industria, para soluciones TI complejas.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950643" y="5873115"/>
            <a:ext cx="381000" cy="381000"/>
          </a:xfrm>
          <a:prstGeom prst="roundRect">
            <a:avLst>
              <a:gd fmla="val 25000" name="adj"/>
            </a:avLst>
          </a:prstGeom>
          <a:solidFill>
            <a:srgbClr val="6C5C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915393" y="5851411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C4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441518" y="5883015"/>
            <a:ext cx="7706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Evaluar y gestionar proyectos en su área de especialización durante todo el ciclo de vida, en contextos tradicionales y ágiles.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950643" y="6569393"/>
            <a:ext cx="381000" cy="381000"/>
          </a:xfrm>
          <a:prstGeom prst="roundRect">
            <a:avLst>
              <a:gd fmla="val 25000" name="adj"/>
            </a:avLst>
          </a:prstGeom>
          <a:solidFill>
            <a:srgbClr val="6C5C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912543" y="654443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441518" y="6555282"/>
            <a:ext cx="7706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soluciones de software según estándares y marcos de trabajo que promuevan la innovación, con foco en calidad, seguridad y sostenibilidad.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950643" y="7265670"/>
            <a:ext cx="381000" cy="381000"/>
          </a:xfrm>
          <a:prstGeom prst="roundRect">
            <a:avLst>
              <a:gd fmla="val 25000" name="adj"/>
            </a:avLst>
          </a:prstGeom>
          <a:solidFill>
            <a:srgbClr val="6C5C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912543" y="7239709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C6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475368" y="7250328"/>
            <a:ext cx="7706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Desarrollar proyectos de software innovadores para plataformas y dispositivos móviles, con marcos de trabajo y buenas prácticas de la industria.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7267991" y="9625013"/>
            <a:ext cx="18180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3625" y="824500"/>
            <a:ext cx="1809749" cy="59947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485900" y="842963"/>
            <a:ext cx="46949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 · PUNTO 3 · FUNDAMENTACIÓN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Relevancia del Proyecto APT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Qué problema resuelve el proyecto y por qué es relevante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14400" y="3028950"/>
            <a:ext cx="7880152" cy="2889885"/>
          </a:xfrm>
          <a:prstGeom prst="roundRect">
            <a:avLst>
              <a:gd fmla="val 52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283970" y="3360420"/>
            <a:ext cx="7855113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CONTEXTO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283970" y="3727133"/>
            <a:ext cx="7355242" cy="1898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295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Necesidad real identificada por la Jefatura de Mantención de </a:t>
            </a:r>
            <a:r>
              <a:rPr b="1" lang="en-US" sz="157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Hamburgo S.A. </a:t>
            </a: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, empresa de elaboración industrial de productos de panificación ubicada en Renca. Hoy el área gestiona sus procesos de forma manual: tareas en papel, órdenes de trabajo físicas, checklists impresos, bitácoras manuscritas e inventario sin plataforma digital integrada.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14400" y="6147435"/>
            <a:ext cx="7880152" cy="2564606"/>
          </a:xfrm>
          <a:prstGeom prst="roundRect">
            <a:avLst>
              <a:gd fmla="val 8171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276350" y="6471285"/>
            <a:ext cx="787187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APORTE DE VALOR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276350" y="6837998"/>
            <a:ext cx="7370939" cy="1588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295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Impacto directo en operarios y jefaturas, e indirecto en toda la cadena productiva: mayor disponibilidad de equipos, menos tiempos de detención y continuidad operacional. El enfoque multicliente y multipaís convierte una solución particular en un producto escalable y comercializable para Código Creativo.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099352" y="3028950"/>
            <a:ext cx="9101673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PROBLEMÁTICAS IDENTIFICADAS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99352" y="3414713"/>
            <a:ext cx="8274248" cy="1177766"/>
          </a:xfrm>
          <a:prstGeom prst="roundRect">
            <a:avLst>
              <a:gd fmla="val 129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392721" y="3755946"/>
            <a:ext cx="57150" cy="495300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640371" y="3669983"/>
            <a:ext cx="739659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Pérdida o extravío de registros físicos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640371" y="4074795"/>
            <a:ext cx="7396591" cy="300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Dificulta la trazabilidad de las intervenciones y el historial de cada equipo.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099352" y="4763929"/>
            <a:ext cx="8274248" cy="1440180"/>
          </a:xfrm>
          <a:prstGeom prst="roundRect">
            <a:avLst>
              <a:gd fmla="val 105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392721" y="5236369"/>
            <a:ext cx="57150" cy="495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9640371" y="5019199"/>
            <a:ext cx="818384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Demoras en la comunicación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9640371" y="5424011"/>
            <a:ext cx="7663054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La asignación de tareas y el reporte de fallas dependen de instrucciones verbales o papel.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099352" y="6375559"/>
            <a:ext cx="8274248" cy="1177766"/>
          </a:xfrm>
          <a:prstGeom prst="roundRect">
            <a:avLst>
              <a:gd fmla="val 129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392721" y="6716792"/>
            <a:ext cx="57150" cy="495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9640371" y="6630829"/>
            <a:ext cx="7733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Falta de información en tiempo real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9640371" y="7035641"/>
            <a:ext cx="7733050" cy="300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Sin métricas de OT, disponibilidad de equipos ni cumplimiento de checklists.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099352" y="7724775"/>
            <a:ext cx="8274248" cy="1177766"/>
          </a:xfrm>
          <a:prstGeom prst="roundRect">
            <a:avLst>
              <a:gd fmla="val 129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392721" y="8066008"/>
            <a:ext cx="57150" cy="495300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640371" y="7980045"/>
            <a:ext cx="79894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Control deficiente del inventario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640371" y="8384857"/>
            <a:ext cx="7989487" cy="300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Difícil relacionar repuestos con equipos, intervenciones y líneas de producción.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7271563" y="9625013"/>
            <a:ext cx="1782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00946" y="363188"/>
            <a:ext cx="1428900" cy="1422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485900" y="842963"/>
            <a:ext cx="46949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 · PUNTO 3 · FUNDAMENTACIÓN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Descripción y pertinencia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Qué se espera lograr y cómo se relaciona con el perfil de egreso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14400" y="3028950"/>
            <a:ext cx="8077200" cy="2029778"/>
          </a:xfrm>
          <a:prstGeom prst="roundRect">
            <a:avLst>
              <a:gd fmla="val 75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264920" y="3486626"/>
            <a:ext cx="95250" cy="9525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493520" y="3341370"/>
            <a:ext cx="409631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733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025"/>
              <a:buFont typeface="Sora"/>
              <a:buNone/>
            </a:pPr>
            <a:r>
              <a:rPr b="1" lang="en-US" sz="20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Sistema web administrativo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264920" y="3860483"/>
            <a:ext cx="759744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Para jefaturas, planificadores y supervisores: creación y asignación de órdenes de trabajo y tareas, administración de equipos, configuración de checklists, bitácoras e indicadores de gestión.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14400" y="5287328"/>
            <a:ext cx="8077200" cy="2029778"/>
          </a:xfrm>
          <a:prstGeom prst="roundRect">
            <a:avLst>
              <a:gd fmla="val 75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264920" y="5745004"/>
            <a:ext cx="95250" cy="95250"/>
          </a:xfrm>
          <a:prstGeom prst="ellipse">
            <a:avLst/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493520" y="5599748"/>
            <a:ext cx="465764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733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2025"/>
              <a:buFont typeface="Sora"/>
              <a:buNone/>
            </a:pPr>
            <a:r>
              <a:rPr b="1" lang="en-US" sz="20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Aplicación móvil para operarios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264920" y="6118860"/>
            <a:ext cx="759744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Para el personal en planta: consultar tareas y OT asignadas, completar checklists digitales, registrar bitácoras, adjuntar evidencias y reportar desde terreno, incluso sin conexión.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14400" y="7545705"/>
            <a:ext cx="8077200" cy="1820228"/>
          </a:xfrm>
          <a:prstGeom prst="roundRect">
            <a:avLst>
              <a:gd fmla="val 8373" name="adj"/>
            </a:avLst>
          </a:prstGeom>
          <a:solidFill>
            <a:srgbClr val="6C5CFF">
              <a:alpha val="5882"/>
            </a:srgbClr>
          </a:solidFill>
          <a:ln cap="flat" cmpd="sng" w="9525">
            <a:solidFill>
              <a:srgbClr val="6C5C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264920" y="7839075"/>
            <a:ext cx="8113776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CÓMO SE ABORDARÁ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264920" y="8186738"/>
            <a:ext cx="759744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Levantamiento de los procesos actuales (AS-IS), diseño de los procesos optimizados (TO-BE) y desarrollo ágil e iterativo. Hamburgo S.A. será el primer caso de implementación y validación en un entorno industrial real.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296400" y="3028950"/>
            <a:ext cx="8077200" cy="6291739"/>
          </a:xfrm>
          <a:prstGeom prst="roundRect">
            <a:avLst>
              <a:gd fmla="val 24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9646920" y="3341370"/>
            <a:ext cx="8113776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PERTINENCIA CON EL PERFIL DE EGRESO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646920" y="3784283"/>
            <a:ext cx="811377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Desarrollo de software full stack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646920" y="4189095"/>
            <a:ext cx="7597445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Dos plataformas conectadas por una API REST, con arquitectura por capas y buenas prácticas de ingeniería.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9646920" y="4923473"/>
            <a:ext cx="811377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Desarrollo de aplicaciones móviles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9646920" y="5328285"/>
            <a:ext cx="7597445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Desarrollo multiplataforma, interfaces para uso en planta y sincronización de datos.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9646920" y="6062663"/>
            <a:ext cx="811377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Análisis y modelado de requerimientos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646920" y="6467475"/>
            <a:ext cx="7597445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Levantamiento formal, modelado de procesos (UML, BPMN) y gestión del alcance.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9646920" y="7201853"/>
            <a:ext cx="811377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Bases de datos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9646920" y="7606665"/>
            <a:ext cx="7597445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Base relacional como fuente única para ambas plataformas, con normalización y optimización.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9646920" y="8341043"/>
            <a:ext cx="811377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Gestión de proyectos y comunicación técnica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646920" y="8745855"/>
            <a:ext cx="8113776" cy="300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Planificación, gestión de riesgos y comunicación continua con un cliente real.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7265373" y="9625013"/>
            <a:ext cx="18442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6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485900" y="842963"/>
            <a:ext cx="46949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 · PUNTO 3 · FUNDAMENTACIÓN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Stack tecnológico y factibilidad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Tecnologías a utilizar y condiciones que hacen viable el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914400" y="3028950"/>
            <a:ext cx="4041815" cy="1682115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188720" y="3284220"/>
            <a:ext cx="38424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BACKEND Y API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188720" y="3598545"/>
            <a:ext cx="359797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C# · ASP.NET Web API · .NET Framework 4.8 · WebForms · Postman / Swagger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146715" y="3028950"/>
            <a:ext cx="4041815" cy="1682115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21035" y="3284220"/>
            <a:ext cx="38424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00BFAE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00BFAE"/>
                </a:solidFill>
                <a:latin typeface="Sora"/>
                <a:ea typeface="Sora"/>
                <a:cs typeface="Sora"/>
                <a:sym typeface="Sora"/>
              </a:rPr>
              <a:t>APLICACIÓN MÓVIL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421035" y="3598545"/>
            <a:ext cx="359797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Flutter · Dart · Android SDK · Visual Studio Code · Trabajo sin conexión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14400" y="4901565"/>
            <a:ext cx="4041815" cy="1682115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188720" y="5156835"/>
            <a:ext cx="38424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2563EB"/>
                </a:solidFill>
                <a:latin typeface="Sora"/>
                <a:ea typeface="Sora"/>
                <a:cs typeface="Sora"/>
                <a:sym typeface="Sora"/>
              </a:rPr>
              <a:t>BASE DE DATOS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188720" y="5471160"/>
            <a:ext cx="359797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SQL Server 2022 · T-SQL · SQL Server Management Studio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146715" y="4901565"/>
            <a:ext cx="4041815" cy="1682115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FF4D9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421035" y="5156835"/>
            <a:ext cx="38424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FF4D9D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FF4D9D"/>
                </a:solidFill>
                <a:latin typeface="Sora"/>
                <a:ea typeface="Sora"/>
                <a:cs typeface="Sora"/>
                <a:sym typeface="Sora"/>
              </a:rPr>
              <a:t>INTELIGENCIA ARTIFICIAL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421035" y="5471160"/>
            <a:ext cx="359797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Azure Machine Learning (modelo predictivo) · Azure AI Vision (análisis de imágenes) · Python · ONNX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914400" y="6774180"/>
            <a:ext cx="4041815" cy="1682115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00BFAE">
                <a:alpha val="3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188720" y="7029450"/>
            <a:ext cx="38424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00BFAE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00BFAE"/>
                </a:solidFill>
                <a:latin typeface="Sora"/>
                <a:ea typeface="Sora"/>
                <a:cs typeface="Sora"/>
                <a:sym typeface="Sora"/>
              </a:rPr>
              <a:t>VOZ E INCLUSIÓN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188720" y="7343775"/>
            <a:ext cx="359797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Dictado y lectura en voz alta con el motor del propio teléfono: funciona sin conexión y sin costo por uso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146715" y="6774180"/>
            <a:ext cx="4041815" cy="1682115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421035" y="7029450"/>
            <a:ext cx="38424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HERRAMIENTAS Y DESPLIEGUE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421035" y="7343775"/>
            <a:ext cx="359797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6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Visual Studio · Git / GitHub · Figma · Trello · Bizagi / Draw.io · Windows Server 2022 · IIS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9493329" y="3028950"/>
            <a:ext cx="7880271" cy="6886575"/>
          </a:xfrm>
          <a:prstGeom prst="roundRect">
            <a:avLst>
              <a:gd fmla="val 3043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9874330" y="3371850"/>
            <a:ext cx="7830098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8D99AA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FACTIBILIDAD DE DESARROLLO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9874330" y="3795713"/>
            <a:ext cx="78300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Duración del semestre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9874330" y="4186238"/>
            <a:ext cx="733181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Alcance priorizado: primero API REST y modelo de datos, luego el sistema web y, en paralelo, la app móvil.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9874330" y="4938713"/>
            <a:ext cx="78300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Horas de la asignatura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874330" y="5329238"/>
            <a:ext cx="733181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Trabajo organizado en sprints de dos semanas con entregables definidos para ambas plataformas.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9874330" y="6081713"/>
            <a:ext cx="78300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Materiales requeridos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9874330" y="6472238"/>
            <a:ext cx="733181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Sin inversión significativa: herramientas gratuitas o de acceso académico, computador personal e internet.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9874330" y="7224713"/>
            <a:ext cx="78300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Factores que facilitan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9874330" y="7615238"/>
            <a:ext cx="733181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Cliente real con necesidad concreta, jefe de área comprometido y operarios disponibles para validar la app.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9874330" y="8367712"/>
            <a:ext cx="78300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FF4D9D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FF4D9D"/>
                </a:solidFill>
                <a:latin typeface="Sora"/>
                <a:ea typeface="Sora"/>
                <a:cs typeface="Sora"/>
                <a:sym typeface="Sora"/>
              </a:rPr>
              <a:t>Riesgos y mitigación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9874330" y="8758238"/>
            <a:ext cx="7331819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API centralizada para no duplicar lógica · canales asíncronos con el cliente · alcance acordado e iteraciones cortas · framework multiplataforma · interfaces simples y capacitación final.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7278827" y="9625013"/>
            <a:ext cx="17097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7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5" name="Google Shape;2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485900" y="842963"/>
            <a:ext cx="22652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Objetivos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Objetivo general y objetivos específicos 1 a 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914400" y="2990850"/>
            <a:ext cx="16459200" cy="2424113"/>
          </a:xfrm>
          <a:prstGeom prst="roundRect">
            <a:avLst>
              <a:gd fmla="val 8644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333500" y="3333750"/>
            <a:ext cx="1718310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OBJETIVO GENERAL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333500" y="3700463"/>
            <a:ext cx="1608963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F1F4F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F1F4F9"/>
                </a:solidFill>
                <a:latin typeface="Sora"/>
                <a:ea typeface="Sora"/>
                <a:cs typeface="Sora"/>
                <a:sym typeface="Sora"/>
              </a:rPr>
              <a:t>Desarrollar e implementar SIGMA, una solución tecnológica web y móvil, escalable, multicliente y multipaís, perteneciente a la suite de productos de Código Creativo, orientada a digitalizar, centralizar y optimizar los procesos de mantenimiento industrial, concebida como un producto comercializable y con potencial de posicionamiento en el mercado, utilizando a Hamburgo S.A. como primer caso de implementación y validación en un entorno productivo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914400" y="5662613"/>
            <a:ext cx="8134350" cy="1259681"/>
          </a:xfrm>
          <a:prstGeom prst="roundRect">
            <a:avLst>
              <a:gd fmla="val 120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188720" y="5898832"/>
            <a:ext cx="361950" cy="361950"/>
          </a:xfrm>
          <a:prstGeom prst="roundRect">
            <a:avLst>
              <a:gd fmla="val 26316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150620" y="5898832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722120" y="5898832"/>
            <a:ext cx="7263880" cy="825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Analizar y modelar los procesos de mantenimiento de Hamburgo S.A. mediante el levantamiento de requerimientos y la definición de los procesos AS-IS y TO-BE.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9239250" y="5662613"/>
            <a:ext cx="8134350" cy="1259681"/>
          </a:xfrm>
          <a:prstGeom prst="roundRect">
            <a:avLst>
              <a:gd fmla="val 120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9513570" y="5898832"/>
            <a:ext cx="361950" cy="361950"/>
          </a:xfrm>
          <a:prstGeom prst="roundRect">
            <a:avLst>
              <a:gd fmla="val 26316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9475470" y="5898832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0046970" y="5898832"/>
            <a:ext cx="7263880" cy="825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e implementar una arquitectura escalable, multicliente y multipaís que integre el sistema web, la app móvil, los servicios de negocio y una API REST centralizada.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14400" y="7112794"/>
            <a:ext cx="8134350" cy="997268"/>
          </a:xfrm>
          <a:prstGeom prst="roundRect">
            <a:avLst>
              <a:gd fmla="val 15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188720" y="7349014"/>
            <a:ext cx="361950" cy="361950"/>
          </a:xfrm>
          <a:prstGeom prst="roundRect">
            <a:avLst>
              <a:gd fmla="val 26316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150620" y="7349014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722120" y="7349014"/>
            <a:ext cx="7263880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y desarrollar una interfaz y experiencia de usuario clara, intuitiva y accesible, adaptada a los distintos perfiles que utilizarán SIGMA.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9239250" y="7112794"/>
            <a:ext cx="8134350" cy="997268"/>
          </a:xfrm>
          <a:prstGeom prst="roundRect">
            <a:avLst>
              <a:gd fmla="val 15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513570" y="7349014"/>
            <a:ext cx="361950" cy="361950"/>
          </a:xfrm>
          <a:prstGeom prst="roundRect">
            <a:avLst>
              <a:gd fmla="val 26316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9475470" y="7349014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10046970" y="7349014"/>
            <a:ext cx="7263880" cy="56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Diseñar e implementar una base de datos relacional y escalable que garantice la integridad, consistencia y disponibilidad de la información.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914400" y="8300561"/>
            <a:ext cx="8134350" cy="1259681"/>
          </a:xfrm>
          <a:prstGeom prst="roundRect">
            <a:avLst>
              <a:gd fmla="val 120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188720" y="8536781"/>
            <a:ext cx="361950" cy="361950"/>
          </a:xfrm>
          <a:prstGeom prst="roundRect">
            <a:avLst>
              <a:gd fmla="val 26316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150620" y="8536781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722120" y="8536781"/>
            <a:ext cx="7263880" cy="825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Desarrollar el sistema web administrativo para gestionar equipos, usuarios, tareas, órdenes de trabajo, checklists, bitácoras, repuestos, inventarios e indicadores.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239250" y="8300561"/>
            <a:ext cx="8134350" cy="1259681"/>
          </a:xfrm>
          <a:prstGeom prst="roundRect">
            <a:avLst>
              <a:gd fmla="val 120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9513570" y="8536781"/>
            <a:ext cx="361950" cy="361950"/>
          </a:xfrm>
          <a:prstGeom prst="roundRect">
            <a:avLst>
              <a:gd fmla="val 26316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9475470" y="8536781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10046970" y="8536781"/>
            <a:ext cx="7263880" cy="825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9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Desarrollar la aplicación móvil para operarios: tareas y OT, checklists, bitácoras, evidencias y reporte de incidencias desde terreno, incluso sin conexión.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17268825" y="9625013"/>
            <a:ext cx="1809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8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5" name="Google Shape;2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485900" y="842963"/>
            <a:ext cx="22652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Objetivos específicos 7 a 10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Voz, inteligencia artificial, indicadores y validación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914400" y="3067050"/>
            <a:ext cx="8096250" cy="2857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00BFAE">
                <a:alpha val="3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264920" y="3398520"/>
            <a:ext cx="419100" cy="419100"/>
          </a:xfrm>
          <a:prstGeom prst="roundRect">
            <a:avLst>
              <a:gd fmla="val 27273" name="adj"/>
            </a:avLst>
          </a:prstGeom>
          <a:gradFill>
            <a:gsLst>
              <a:gs pos="0">
                <a:srgbClr val="00E0C2"/>
              </a:gs>
              <a:gs pos="100000">
                <a:srgbClr val="2563EB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226820" y="339852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7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836420" y="3493770"/>
            <a:ext cx="18589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FAE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00BFAE"/>
                </a:solidFill>
                <a:latin typeface="Sora"/>
                <a:ea typeface="Sora"/>
                <a:cs typeface="Sora"/>
                <a:sym typeface="Sora"/>
              </a:rPr>
              <a:t>VOZ E INCLUSIÓN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264920" y="4008120"/>
            <a:ext cx="7617067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Incorporar el registro por voz utilizando el motor de reconocimiento y lectura del propio teléfono, permitiendo que los operarios dicten observaciones, mediciones y hallazgos sin conexión y sin costo por uso, con revisión del texto antes de guardar.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9277350" y="3067050"/>
            <a:ext cx="8096250" cy="2857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FF4D9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9627870" y="3398520"/>
            <a:ext cx="419100" cy="419100"/>
          </a:xfrm>
          <a:prstGeom prst="roundRect">
            <a:avLst>
              <a:gd fmla="val 27273" name="adj"/>
            </a:avLst>
          </a:prstGeom>
          <a:gradFill>
            <a:gsLst>
              <a:gs pos="0">
                <a:srgbClr val="6C5CFF"/>
              </a:gs>
              <a:gs pos="100000">
                <a:srgbClr val="FF4D9D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9589770" y="339852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8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9370" y="3523655"/>
            <a:ext cx="1333500" cy="16883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/>
          <p:nvPr/>
        </p:nvSpPr>
        <p:spPr>
          <a:xfrm>
            <a:off x="9627870" y="4008120"/>
            <a:ext cx="7617067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Implementar el módulo predictivo de SIGMA con Azure Machine Learning para identificar patrones y anticipar posibles fallas, y Azure AI Vision para el análisis automatizado de las imágenes registradas en terreno. La recomendación siempre queda sujeta a decisión humana.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914400" y="6191250"/>
            <a:ext cx="8096250" cy="2857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264920" y="652272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226820" y="652272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9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1836420" y="6617970"/>
            <a:ext cx="28028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INDICADORES DE GESTIÓN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264920" y="7132320"/>
            <a:ext cx="7617067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Implementar un dashboard con indicadores clave (KPIs) que permita visualizar y analizar el estado de órdenes de trabajo, tareas, checklists, intervenciones y disponibilidad de equipos para apoyar la toma de decisiones.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9277350" y="6191250"/>
            <a:ext cx="8096250" cy="2857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9627870" y="652272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9589770" y="652272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10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199370" y="6617970"/>
            <a:ext cx="13305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VALIDACIÓN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9627870" y="7132320"/>
            <a:ext cx="7617067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Validar el funcionamiento, integración y usabilidad de SIGMA mediante pruebas funcionales y sesiones de validación con la jefatura y los operarios de Hamburgo S.A., verificando el cumplimiento de los requerimientos definidos.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7265373" y="9625013"/>
            <a:ext cx="18442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9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8" name="Google Shape;3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1485900" y="842963"/>
            <a:ext cx="22652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Modelo de negocio Canvas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Propuesta preliminar del equipo Código Creativo · pendiente de validación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914400" y="2990850"/>
            <a:ext cx="3154680" cy="3514726"/>
          </a:xfrm>
          <a:prstGeom prst="roundRect">
            <a:avLst>
              <a:gd fmla="val 48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1169670" y="3227070"/>
            <a:ext cx="29085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SOCIOS CLAVE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1169670" y="3560445"/>
            <a:ext cx="2723464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Hamburgo S.A. como primer cliente y entorno de validación · Microsoft Azure · Duoc UC como entorno académico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240530" y="2990849"/>
            <a:ext cx="3154680" cy="3514725"/>
          </a:xfrm>
          <a:prstGeom prst="roundRect">
            <a:avLst>
              <a:gd fmla="val 48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495800" y="3227070"/>
            <a:ext cx="29085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ACTIVIDADES CLAVE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495800" y="3560445"/>
            <a:ext cx="2723464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Levantamiento AS-IS y TO-BE · Desarrollo web, móvil y API REST · Modelamiento de datos · Modelo predictivo y análisis visual · Pruebas y validación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566660" y="2990850"/>
            <a:ext cx="3154680" cy="3514726"/>
          </a:xfrm>
          <a:prstGeom prst="roundRect">
            <a:avLst>
              <a:gd fmla="val 4831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7814310" y="3219450"/>
            <a:ext cx="29253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PROPUESTA DE VALOR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7814310" y="3552825"/>
            <a:ext cx="2739162" cy="1395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7EBF2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E7EBF2"/>
                </a:solidFill>
                <a:latin typeface="Sora"/>
                <a:ea typeface="Sora"/>
                <a:cs typeface="Sora"/>
                <a:sym typeface="Sora"/>
              </a:rPr>
              <a:t>Digitalizar, centralizar y optimizar la gestión del mantenimiento industrial en una sola plataforma web y móvil.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7814310" y="4910581"/>
            <a:ext cx="27393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A8B2C3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A8B2C3"/>
                </a:solidFill>
                <a:latin typeface="Sora"/>
                <a:ea typeface="Sora"/>
                <a:cs typeface="Sora"/>
                <a:sym typeface="Sora"/>
              </a:rPr>
              <a:t>Trazabilidad completa · Comunicación directa jefatura-operarios · KPIs en tiempo real · Predicción de fallas con SIGMA AI · Producto multicliente y multipaís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0892790" y="2990850"/>
            <a:ext cx="3154680" cy="3514724"/>
          </a:xfrm>
          <a:prstGeom prst="roundRect">
            <a:avLst>
              <a:gd fmla="val 48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1148060" y="3227070"/>
            <a:ext cx="29085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RELACIÓN CON CLIENTES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1148060" y="3560445"/>
            <a:ext cx="2723464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Validación continua por Sprint con jefatura y operarios · Capacitación inicial · Soporte y evolución según retroalimentación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14218920" y="2990850"/>
            <a:ext cx="3154680" cy="3514726"/>
          </a:xfrm>
          <a:prstGeom prst="roundRect">
            <a:avLst>
              <a:gd fmla="val 48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14474190" y="3227070"/>
            <a:ext cx="29085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SEGMENTOS DE CLIENTES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4474190" y="3560445"/>
            <a:ext cx="2723464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Empresas industriales con área de mantenimiento · Jefaturas, planificadores y supervisores · Operarios en terreno · Administradores por cliente y planta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876300" y="6867526"/>
            <a:ext cx="3154680" cy="180975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131570" y="7084696"/>
            <a:ext cx="29085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RECURSOS CLAVE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131570" y="7399021"/>
            <a:ext cx="2723464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Equipo Código Creativo · API REST y base de datos centralizada · Servicios Azure · Design System SIGMA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202430" y="6867526"/>
            <a:ext cx="6480810" cy="180975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457700" y="7084696"/>
            <a:ext cx="65672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ESTRUCTURA DE COSTOS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457700" y="7399021"/>
            <a:ext cx="6149378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Horas de desarrollo del equipo · Herramientas gratuitas o de acceso académico · Consumo de servicios Azure · Infraestructura del piloto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10854690" y="6867526"/>
            <a:ext cx="6480810" cy="180975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1109960" y="7084696"/>
            <a:ext cx="65672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CANALES Y FUENTES DE INGRESO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1109960" y="7399021"/>
            <a:ext cx="6149378" cy="7839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Sora"/>
              <a:buNone/>
            </a:pPr>
            <a:r>
              <a:rPr lang="en-US" sz="135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Implementación directa a partir del piloto en Hamburgo S.A. · Modelo de suscripción multicliente y multipaís, por definir con el equipo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7183577" y="9625013"/>
            <a:ext cx="2662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10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6" name="Google Shape;3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1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07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485900" y="842963"/>
            <a:ext cx="22605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 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914400" y="1371600"/>
            <a:ext cx="181051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90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900"/>
              <a:buFont typeface="Sora"/>
              <a:buNone/>
            </a:pPr>
            <a:r>
              <a:rPr b="1" lang="en-US" sz="39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Metodología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914400" y="222885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Sora"/>
              <a:buNone/>
            </a:pPr>
            <a:r>
              <a:rPr lang="en-US" sz="180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Scrum · sprints de dos semanas · incrementos funcionales validados con el 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914400" y="3028950"/>
            <a:ext cx="8077200" cy="2744153"/>
          </a:xfrm>
          <a:prstGeom prst="roundRect">
            <a:avLst>
              <a:gd fmla="val 55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1264920" y="3341370"/>
            <a:ext cx="8113776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DESCRIPCIÓN DE LA METODOLOGÍA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264920" y="3689033"/>
            <a:ext cx="7597445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Se utilizará la metodología ágil Scrum, organizando el trabajo de forma incremental e iterativa en Sprints de dos semanas. Cada iteración entrega un incremento funcional de SIGMA, permitiendo evaluar resultados, recopilar retroalimentación y ajustar las siguientes iteraciones. El proyecto inicia con el levantamiento de requerimientos junto a Hamburgo S.A., documentando los procesos AS-IS y diseñando los TO-BE.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914400" y="6001703"/>
            <a:ext cx="8077200" cy="3876675"/>
          </a:xfrm>
          <a:prstGeom prst="roundRect">
            <a:avLst>
              <a:gd fmla="val 39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264920" y="6314123"/>
            <a:ext cx="8113776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EVENTOS Y ARTEFACTOS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1264920" y="6718935"/>
            <a:ext cx="3621405" cy="860108"/>
          </a:xfrm>
          <a:prstGeom prst="roundRect">
            <a:avLst>
              <a:gd fmla="val 13289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436370" y="6871335"/>
            <a:ext cx="36063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Product Backlog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436370" y="7199948"/>
            <a:ext cx="3606356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18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20 épicas y 132 historias priorizadas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019675" y="6718935"/>
            <a:ext cx="3621405" cy="860108"/>
          </a:xfrm>
          <a:prstGeom prst="roundRect">
            <a:avLst>
              <a:gd fmla="val 13289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191125" y="6871335"/>
            <a:ext cx="36063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Sprint Planning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191125" y="7199948"/>
            <a:ext cx="3606356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18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Objetivo y alcance de cada Sprint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1264920" y="7712393"/>
            <a:ext cx="3621405" cy="860108"/>
          </a:xfrm>
          <a:prstGeom prst="roundRect">
            <a:avLst>
              <a:gd fmla="val 13289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436370" y="7864793"/>
            <a:ext cx="36063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Sprint Backlog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436370" y="8193405"/>
            <a:ext cx="3606356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18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Historias y tareas técnicas del Sprint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5019675" y="7712393"/>
            <a:ext cx="3621405" cy="860108"/>
          </a:xfrm>
          <a:prstGeom prst="roundRect">
            <a:avLst>
              <a:gd fmla="val 13289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191125" y="7864793"/>
            <a:ext cx="36063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Daily Scrum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191125" y="8193405"/>
            <a:ext cx="3606356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18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Seguimiento breve e impedimentos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1264920" y="8705850"/>
            <a:ext cx="3621405" cy="860108"/>
          </a:xfrm>
          <a:prstGeom prst="roundRect">
            <a:avLst>
              <a:gd fmla="val 13289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436370" y="8858250"/>
            <a:ext cx="36063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Sprint Review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436370" y="9186863"/>
            <a:ext cx="3606356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18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Revisión del incremento y feedback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5019675" y="8705850"/>
            <a:ext cx="3621405" cy="860108"/>
          </a:xfrm>
          <a:prstGeom prst="roundRect">
            <a:avLst>
              <a:gd fmla="val 13289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5191125" y="8858250"/>
            <a:ext cx="36063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Retrospective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191125" y="9186863"/>
            <a:ext cx="3606356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18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Mejora continua del equipo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9296400" y="3028950"/>
            <a:ext cx="8077200" cy="4295775"/>
          </a:xfrm>
          <a:prstGeom prst="roundRect">
            <a:avLst>
              <a:gd fmla="val 4878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658350" y="3352800"/>
            <a:ext cx="808863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ROLES SCRUM DEL PROYECTO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9658350" y="3776662"/>
            <a:ext cx="808863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Product Owner · Catalina Pescio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9658350" y="4181475"/>
            <a:ext cx="757389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A8B2C3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A8B2C3"/>
                </a:solidFill>
                <a:latin typeface="Sora"/>
                <a:ea typeface="Sora"/>
                <a:cs typeface="Sora"/>
                <a:sym typeface="Sora"/>
              </a:rPr>
              <a:t>Administra y prioriza el Product Backlog, define el valor de negocio y acepta los incrementos.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9658350" y="4914900"/>
            <a:ext cx="808863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Scrum Master · Emilio Fuentes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9658350" y="5319713"/>
            <a:ext cx="757389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A8B2C3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A8B2C3"/>
                </a:solidFill>
                <a:latin typeface="Sora"/>
                <a:ea typeface="Sora"/>
                <a:cs typeface="Sora"/>
                <a:sym typeface="Sora"/>
              </a:rPr>
              <a:t>Facilita los eventos de Scrum, resguarda la Definición de Listo y gestiona los impedimentos.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9658350" y="6053138"/>
            <a:ext cx="808863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9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25"/>
              <a:buFont typeface="Sora"/>
              <a:buNone/>
            </a:pPr>
            <a:r>
              <a:rPr b="1" lang="en-US" sz="1725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Developer · Bryan Chávez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658350" y="6457950"/>
            <a:ext cx="757389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A8B2C3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A8B2C3"/>
                </a:solidFill>
                <a:latin typeface="Sora"/>
                <a:ea typeface="Sora"/>
                <a:cs typeface="Sora"/>
                <a:sym typeface="Sora"/>
              </a:rPr>
              <a:t>Estima, descompone en tareas técnicas y construye el incremento: datos, web, móvil, API y pruebas.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9296400" y="7553325"/>
            <a:ext cx="8077200" cy="1820228"/>
          </a:xfrm>
          <a:prstGeom prst="roundRect">
            <a:avLst>
              <a:gd fmla="val 8373" name="adj"/>
            </a:avLst>
          </a:prstGeom>
          <a:solidFill>
            <a:srgbClr val="00E0C2">
              <a:alpha val="7843"/>
            </a:srgbClr>
          </a:solidFill>
          <a:ln cap="flat" cmpd="sng" w="9525">
            <a:solidFill>
              <a:srgbClr val="00BFAE">
                <a:alpha val="3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646920" y="7846695"/>
            <a:ext cx="8113776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00BFAE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00BFAE"/>
                </a:solidFill>
                <a:latin typeface="Sora"/>
                <a:ea typeface="Sora"/>
                <a:cs typeface="Sora"/>
                <a:sym typeface="Sora"/>
              </a:rPr>
              <a:t>PARTICIPACIÓN DE HAMBURGO S.A.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9646920" y="8194357"/>
            <a:ext cx="759744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Actúa como primer cliente y entorno de validación: aporta información de sus procesos actuales y retroalimenta las funcionalidades desarrolladas, permitiendo validar el producto en un contexto industrial real.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890155" y="9948257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7236560" y="9625013"/>
            <a:ext cx="21324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11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3" name="Google Shape;4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6286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914400" y="66675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76300" y="66675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08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485900" y="747713"/>
            <a:ext cx="22682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 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914400" y="1257300"/>
            <a:ext cx="1810512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600"/>
              <a:buFont typeface="Sora"/>
              <a:buNone/>
            </a:pPr>
            <a:r>
              <a:rPr b="1" lang="en-US" sz="36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Evidencias de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914400" y="2038350"/>
            <a:ext cx="1810512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75"/>
              <a:buFont typeface="Sora"/>
              <a:buNone/>
            </a:pPr>
            <a:r>
              <a:rPr lang="en-US" sz="15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Todo el proyecto · marco Scrum / híbrido · responsable: equipo completo (Product Owner en la visión de producto)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914400" y="2624138"/>
            <a:ext cx="16459200" cy="7044690"/>
          </a:xfrm>
          <a:prstGeom prst="roundRect">
            <a:avLst>
              <a:gd fmla="val 21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922020" y="2631758"/>
            <a:ext cx="16443960" cy="46672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226820" y="2765108"/>
            <a:ext cx="401877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EVIDENCIA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089803" y="2765108"/>
            <a:ext cx="306204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INSTANCIA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8083034" y="2765108"/>
            <a:ext cx="80378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DESCRIPCIÓN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15599689" y="2765108"/>
            <a:ext cx="160751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SEMANA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922020" y="3783330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1226820" y="3329464"/>
            <a:ext cx="4018776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Product Vision Statement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089803" y="3335655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Product Backlog / Visión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8083034" y="3222308"/>
            <a:ext cx="7526317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Declaración de visión del producto: para quién, qué problema resuelve, propuesta de valor y diferenciador.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5599689" y="3319463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922020" y="4475798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1226820" y="4021931"/>
            <a:ext cx="4018776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Product Backlog priorizado (inicial)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089803" y="4028122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Planificación de Sprint / Backlog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8083034" y="3914775"/>
            <a:ext cx="7526317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Historias de usuario y épicas priorizadas (MoSCoW o valor de negocio) que cubren el alcance del MVP.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15599689" y="4011930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922020" y="5176838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226820" y="4607243"/>
            <a:ext cx="3763036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Sprint Backlogs (uno por sprint, 5-6 sprints)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5089803" y="4724876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Sprint Planning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8083034" y="4611529"/>
            <a:ext cx="7526317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Historias comprometidas por sprint de dos semanas, con estimación y Definition of Done.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15599689" y="4708684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S5-S15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922020" y="5869305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1226820" y="5415439"/>
            <a:ext cx="4018776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Definition of Done (DoD)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5089803" y="5421630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Artefacto Scrum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8083034" y="5308282"/>
            <a:ext cx="7526317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Criterios objetivos que debe cumplir un incremento para considerarse terminado: pruebas, code review y documentación.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15599689" y="5405438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922020" y="6570345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1226820" y="6000750"/>
            <a:ext cx="3763036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Evidencia de Daily Scrum / bitácora de avance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5089803" y="6118384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Ejecución · Daily Scrum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083034" y="6114336"/>
            <a:ext cx="8037814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Registro breve y periódico del avance, impedimentos y próximos pasos del equipo.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5599689" y="6102191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S5-S15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922020" y="7262813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1226820" y="6808947"/>
            <a:ext cx="4018776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Incrementos de producto por sprint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5089803" y="6815138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Ejecución · Incremento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8083034" y="6701790"/>
            <a:ext cx="7526317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Funcionalidades completadas y demostrables al cierre de cada sprint, con commits verificables.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15599689" y="6798945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S5-S15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922020" y="7963852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1226820" y="7394257"/>
            <a:ext cx="3763036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Evidencia de Sprint Review y Retrospectiva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089803" y="7511891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Revisión y Retrospectiva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8083034" y="7398544"/>
            <a:ext cx="7526317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Acta o minuta de cada Sprint Review (qué se mostró) y Retrospectiva (qué mejorar), con capturas.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15599689" y="7495699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S5-S15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922020" y="8462010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1226820" y="8105299"/>
            <a:ext cx="4018776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Burndown / Burnup chart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089803" y="8111490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Seguimiento del Sprint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8083034" y="8107442"/>
            <a:ext cx="8037814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Gráfico de avance de trabajo pendiente frente al tiempo, actualizado por sprint.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15599689" y="8095298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S5-S15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922020" y="8960168"/>
            <a:ext cx="1644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1226820" y="8603456"/>
            <a:ext cx="4018776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Retrospectiva final del proyecto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089803" y="8609648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Retrospectiva de cierre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8083034" y="8605600"/>
            <a:ext cx="8037814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Reflexión final del equipo: qué funcionó, qué no y aprendizajes del proceso ágil completo.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5599689" y="8593455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S16-S17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1226820" y="9091613"/>
            <a:ext cx="3763036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862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Demo funcional del producto (incremento final)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089803" y="9209247"/>
            <a:ext cx="3062049" cy="2486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31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Sprint Review final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8083034" y="9205198"/>
            <a:ext cx="8037814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Demostración en vivo o video del sistema funcionando end-to-end.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15599689" y="9193054"/>
            <a:ext cx="1607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75"/>
              <a:buFont typeface="Sora"/>
              <a:buNone/>
            </a:pPr>
            <a:r>
              <a:rPr b="1" lang="en-US" sz="1275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S17-S18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914400" y="9902346"/>
            <a:ext cx="52344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17204174" y="9663113"/>
            <a:ext cx="24562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12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1" name="Google Shape;4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6286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3"/>
          <p:cNvSpPr/>
          <p:nvPr/>
        </p:nvSpPr>
        <p:spPr>
          <a:xfrm>
            <a:off x="914400" y="66675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876300" y="66675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09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1485900" y="747713"/>
            <a:ext cx="28401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PUNTOS 7 Y 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914400" y="1257300"/>
            <a:ext cx="1810512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600"/>
              <a:buFont typeface="Sora"/>
              <a:buNone/>
            </a:pPr>
            <a:r>
              <a:rPr b="1" lang="en-US" sz="36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Carta Gantt · Fases 1 y 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914400" y="2038350"/>
            <a:ext cx="1810512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Sora"/>
              <a:buNone/>
            </a:pPr>
            <a:r>
              <a:rPr lang="en-US" sz="165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Entregables de proyecto por semana académica · </a:t>
            </a:r>
            <a:r>
              <a:rPr b="1" lang="en-US" sz="16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■ </a:t>
            </a:r>
            <a:r>
              <a:rPr lang="en-US" sz="165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actividad en ejecución · </a:t>
            </a:r>
            <a:r>
              <a:rPr b="1" lang="en-US" sz="165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◆ </a:t>
            </a:r>
            <a:r>
              <a:rPr lang="en-US" sz="165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hito o entrega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6057900" y="2871788"/>
            <a:ext cx="113157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60198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66484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S2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72771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S3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79057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S4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85344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S5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91630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S6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97917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S7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104203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S8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110490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S9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116776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S10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123063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S11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129349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S12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135636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S13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141922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S14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148209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S15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154495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S16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1607820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S17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16706850" y="2581275"/>
            <a:ext cx="7048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S18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914400" y="2974658"/>
            <a:ext cx="169529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FASE 1 · DEFINICIÓN DEL PROYECTO APT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914400" y="326040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Inicio y organización del proyecto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6057900" y="3305175"/>
            <a:ext cx="629126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914400" y="349281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Levantamiento de requerimientos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6057900" y="353758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914400" y="372522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Modelamiento AS-IS y diseño TO-BE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687026" y="376999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914400" y="395763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Mapeo mental y de actores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6057900" y="400240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 rot="2700000">
            <a:off x="7155418" y="4002405"/>
            <a:ext cx="104775" cy="10477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914400" y="4190047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Visión del proyecto e Impact Mapping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6687026" y="423481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 rot="2700000">
            <a:off x="8468082" y="4234815"/>
            <a:ext cx="104775" cy="10477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914400" y="442245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Épicas, historias y criterios de aceptación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7314962" y="446722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914400" y="465486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User Story Mapping y Release Planning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7944208" y="4699635"/>
            <a:ext cx="629126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 rot="2700000">
            <a:off x="8468082" y="4699635"/>
            <a:ext cx="104775" cy="10477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914400" y="488727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Product Vision Statement y Product Backlog priorizado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8572143" y="4932045"/>
            <a:ext cx="629126" cy="104775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 rot="2700000">
            <a:off x="9101733" y="4932045"/>
            <a:ext cx="104775" cy="10477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914400" y="5214938"/>
            <a:ext cx="169529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2563EB"/>
                </a:solidFill>
                <a:latin typeface="Sora"/>
                <a:ea typeface="Sora"/>
                <a:cs typeface="Sora"/>
                <a:sym typeface="Sora"/>
              </a:rPr>
              <a:t>FASE 2 · DESARROLLO TÉCNICO DE SIGMA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914400" y="550068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Arquitectura y ambientes de desarrollo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8572143" y="554545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914400" y="573309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Base de datos SQL Server y lógica T-SQL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8572143" y="577786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914400" y="5965507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API REST, autenticación y servicios de negocio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8572143" y="601027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914400" y="619791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Estructura base del sistema web y app Flutter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8572143" y="624268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914400" y="643032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Activos, estructura organizacional y catálogos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9829324" y="647509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914400" y="666273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Repuestos, inventario y motor de programación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11086505" y="670750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914400" y="689514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Planes, checklists dinámicos y tareas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12344877" y="693991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914400" y="7127557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Órdenes de trabajo, fallas y bitácora de turno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11086505" y="717232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914400" y="735996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Evidencias, análisis visual y notificaciones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11086505" y="740473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914400" y="759237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Trabajo sin conexión y dictado por voz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12972812" y="7637145"/>
            <a:ext cx="1886307" cy="104775"/>
          </a:xfrm>
          <a:prstGeom prst="roundRect">
            <a:avLst>
              <a:gd fmla="val 50000" name="adj"/>
            </a:avLst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914400" y="782478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SIGMA AI: datos, modelo predictivo y alertas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11715750" y="7869555"/>
            <a:ext cx="3771424" cy="104775"/>
          </a:xfrm>
          <a:prstGeom prst="roundRect">
            <a:avLst>
              <a:gd fmla="val 50000" name="adj"/>
            </a:avLst>
          </a:prstGeom>
          <a:solidFill>
            <a:srgbClr val="FF4D9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914400" y="805719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Dashboard e indicadores de gestión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13602057" y="8101965"/>
            <a:ext cx="1257062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914400" y="8289607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Integración web + móvil + API + base de datos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9201388" y="8334375"/>
            <a:ext cx="5657850" cy="1047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914400" y="852201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Pruebas, integración y corrección de incidencias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9201388" y="8566785"/>
            <a:ext cx="6286976" cy="104775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914400" y="8754428"/>
            <a:ext cx="54483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Documentación técnica y funcional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8572143" y="8799195"/>
            <a:ext cx="6914912" cy="104775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914400" y="96631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17204651" y="9663113"/>
            <a:ext cx="2451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13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5" name="Google Shape;5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3850" y="704850"/>
            <a:ext cx="1809750" cy="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4"/>
          <p:cNvSpPr/>
          <p:nvPr/>
        </p:nvSpPr>
        <p:spPr>
          <a:xfrm>
            <a:off x="914400" y="762000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876300" y="7620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Sora"/>
              <a:buNone/>
            </a:pPr>
            <a:r>
              <a:rPr b="1" lang="en-US" sz="1425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10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1485900" y="842963"/>
            <a:ext cx="226431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6C5CFF"/>
              </a:buClr>
              <a:buSzPts val="1350"/>
              <a:buFont typeface="Sora"/>
              <a:buNone/>
            </a:pPr>
            <a:r>
              <a:rPr b="1" lang="en-US" sz="1350">
                <a:solidFill>
                  <a:srgbClr val="6C5CFF"/>
                </a:solidFill>
                <a:latin typeface="Sora"/>
                <a:ea typeface="Sora"/>
                <a:cs typeface="Sora"/>
                <a:sym typeface="Sora"/>
              </a:rPr>
              <a:t>PARTE II · PUNTO 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914400" y="1371600"/>
            <a:ext cx="1810512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3600"/>
              <a:buFont typeface="Sora"/>
              <a:buNone/>
            </a:pPr>
            <a:r>
              <a:rPr b="1" lang="en-US" sz="3600">
                <a:solidFill>
                  <a:srgbClr val="0B0F1A"/>
                </a:solidFill>
                <a:latin typeface="Sora"/>
                <a:ea typeface="Sora"/>
                <a:cs typeface="Sora"/>
                <a:sym typeface="Sora"/>
              </a:rPr>
              <a:t>Carta Gantt · Fase 3 e hitos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914400" y="2152650"/>
            <a:ext cx="1810512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Sora"/>
              <a:buNone/>
            </a:pPr>
            <a:r>
              <a:rPr lang="en-US" sz="1650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Validación, cierre e implementación del piloto · semanas 16 a 18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914400" y="2847975"/>
            <a:ext cx="8640723" cy="44577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B0F1A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7318653" y="3446145"/>
            <a:ext cx="1905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7280553" y="3141345"/>
            <a:ext cx="7111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7915513" y="3141345"/>
            <a:ext cx="7111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8550473" y="3141345"/>
            <a:ext cx="7112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Sora"/>
              <a:buNone/>
            </a:pPr>
            <a:r>
              <a:rPr b="1" lang="en-US" sz="1200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S18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1245870" y="3558540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Preparación y despliegue del piloto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7318653" y="3619024"/>
            <a:ext cx="634841" cy="114300"/>
          </a:xfrm>
          <a:prstGeom prst="roundRect">
            <a:avLst>
              <a:gd fmla="val 50000" name="adj"/>
            </a:avLst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1245870" y="4003358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Validación funcional integral de SIGMA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7318653" y="4063841"/>
            <a:ext cx="1270040" cy="114300"/>
          </a:xfrm>
          <a:prstGeom prst="roundRect">
            <a:avLst>
              <a:gd fmla="val 50000" name="adj"/>
            </a:avLst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1245870" y="4448175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Pruebas de aceptación y usabilidad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7318653" y="4508659"/>
            <a:ext cx="1270040" cy="114300"/>
          </a:xfrm>
          <a:prstGeom prst="roundRect">
            <a:avLst>
              <a:gd fmla="val 50000" name="adj"/>
            </a:avLst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 rot="2700000">
            <a:off x="8461653" y="4508659"/>
            <a:ext cx="114300" cy="1143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1245870" y="4892993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Capacitación inicial a usuarios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7953494" y="4953476"/>
            <a:ext cx="634841" cy="114300"/>
          </a:xfrm>
          <a:prstGeom prst="roundRect">
            <a:avLst>
              <a:gd fmla="val 50000" name="adj"/>
            </a:avLst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1245870" y="5337810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Corrección de observaciones y estabilización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7953494" y="5398294"/>
            <a:ext cx="1270040" cy="114300"/>
          </a:xfrm>
          <a:prstGeom prst="roundRect">
            <a:avLst>
              <a:gd fmla="val 50000" name="adj"/>
            </a:avLst>
          </a:prstGeom>
          <a:solidFill>
            <a:srgbClr val="00BF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1245870" y="5782628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Consolidación de documentación y evidencias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7318653" y="5843111"/>
            <a:ext cx="1905000" cy="11430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1245870" y="6227445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Evaluación de objetivos y retrospectiva general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7953494" y="6287929"/>
            <a:ext cx="1270040" cy="11430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1245870" y="6672263"/>
            <a:ext cx="6078373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Cierre formal del Proyecto APT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8588693" y="6732747"/>
            <a:ext cx="634841" cy="114300"/>
          </a:xfrm>
          <a:prstGeom prst="roundRect">
            <a:avLst>
              <a:gd fmla="val 50000" name="adj"/>
            </a:avLst>
          </a:prstGeom>
          <a:solidFill>
            <a:srgbClr val="6C5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4"/>
          <p:cNvSpPr/>
          <p:nvPr/>
        </p:nvSpPr>
        <p:spPr>
          <a:xfrm rot="2700000">
            <a:off x="9090303" y="6732746"/>
            <a:ext cx="114300" cy="1143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9859923" y="2847975"/>
            <a:ext cx="7513558" cy="4329113"/>
          </a:xfrm>
          <a:prstGeom prst="roundRect">
            <a:avLst>
              <a:gd fmla="val 4840" name="adj"/>
            </a:avLst>
          </a:prstGeom>
          <a:solidFill>
            <a:srgbClr val="0B0F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10202823" y="3152775"/>
            <a:ext cx="7510534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HITOS Y ENTREGAS DE PROYECTO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10202823" y="35575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10888623" y="3557588"/>
            <a:ext cx="632621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Squad, mapeo de actores y documento base del análisis del caso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10202823" y="42433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10888623" y="4243388"/>
            <a:ext cx="372435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Visión del proyecto y cuatro pilares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10202823" y="46624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10888623" y="4662488"/>
            <a:ext cx="37425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Impact Mapping y Release Planning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10202823" y="50815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10888623" y="5081588"/>
            <a:ext cx="632621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Product Vision Statement, Product Backlog priorizado y Definition of Done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10202823" y="57673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S15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10888623" y="5767388"/>
            <a:ext cx="62197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Cierre del desarrollo: SIGMA AI, dashboard e integraciones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10202823" y="61864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S17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4"/>
          <p:cNvSpPr/>
          <p:nvPr/>
        </p:nvSpPr>
        <p:spPr>
          <a:xfrm>
            <a:off x="10888623" y="6186488"/>
            <a:ext cx="436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Aceptación del piloto por Hamburgo S.A.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10202823" y="6605588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00E0C2"/>
              </a:buClr>
              <a:buSzPts val="1500"/>
              <a:buFont typeface="Sora"/>
              <a:buNone/>
            </a:pPr>
            <a:r>
              <a:rPr b="1" lang="en-US" sz="1500">
                <a:solidFill>
                  <a:srgbClr val="00E0C2"/>
                </a:solidFill>
                <a:latin typeface="Sora"/>
                <a:ea typeface="Sora"/>
                <a:cs typeface="Sora"/>
                <a:sym typeface="Sora"/>
              </a:rPr>
              <a:t>S18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10888623" y="6605588"/>
            <a:ext cx="47402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903"/>
              </a:lnSpc>
              <a:spcBef>
                <a:spcPts val="0"/>
              </a:spcBef>
              <a:spcAft>
                <a:spcPts val="0"/>
              </a:spcAft>
              <a:buClr>
                <a:srgbClr val="D7DDE7"/>
              </a:buClr>
              <a:buSzPts val="1500"/>
              <a:buFont typeface="Sora"/>
              <a:buNone/>
            </a:pPr>
            <a:r>
              <a:rPr lang="en-US" sz="1500">
                <a:solidFill>
                  <a:srgbClr val="D7DDE7"/>
                </a:solidFill>
                <a:latin typeface="Sora"/>
                <a:ea typeface="Sora"/>
                <a:cs typeface="Sora"/>
                <a:sym typeface="Sora"/>
              </a:rPr>
              <a:t>Entrega final y cierre formal del Proyecto APT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9859923" y="7386638"/>
            <a:ext cx="7513558" cy="1691640"/>
          </a:xfrm>
          <a:prstGeom prst="roundRect">
            <a:avLst>
              <a:gd fmla="val 90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10191393" y="7660957"/>
            <a:ext cx="753568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2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5"/>
              <a:buFont typeface="Sora"/>
              <a:buNone/>
            </a:pPr>
            <a:r>
              <a:rPr b="1" lang="en-US" sz="1125">
                <a:solidFill>
                  <a:srgbClr val="64748B"/>
                </a:solidFill>
                <a:latin typeface="Sora"/>
                <a:ea typeface="Sora"/>
                <a:cs typeface="Sora"/>
                <a:sym typeface="Sora"/>
              </a:rPr>
              <a:t>NOTA DE ALCANCE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10191393" y="7989570"/>
            <a:ext cx="7056137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Sora"/>
              <a:buNone/>
            </a:pPr>
            <a:r>
              <a:rPr lang="en-US" sz="1425">
                <a:solidFill>
                  <a:srgbClr val="475569"/>
                </a:solidFill>
                <a:latin typeface="Sora"/>
                <a:ea typeface="Sora"/>
                <a:cs typeface="Sora"/>
                <a:sym typeface="Sora"/>
              </a:rPr>
              <a:t>La carta Gantt considera únicamente los entregables de proyecto. Las evidencias individuales y grupales de la asignatura se gestionan en el calendario académico y no se incluyen en esta planificación.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914400" y="9625013"/>
            <a:ext cx="523429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SIGMA · Fase 1 · Definición Proyecto APT · Código Creativo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17199530" y="9625013"/>
            <a:ext cx="250269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14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5"/>
          <p:cNvSpPr/>
          <p:nvPr/>
        </p:nvSpPr>
        <p:spPr>
          <a:xfrm>
            <a:off x="-1905000" y="4953000"/>
            <a:ext cx="8191500" cy="8191500"/>
          </a:xfrm>
          <a:prstGeom prst="ellipse">
            <a:avLst/>
          </a:prstGeom>
          <a:gradFill>
            <a:gsLst>
              <a:gs pos="0">
                <a:srgbClr val="00E0C2">
                  <a:alpha val="27843"/>
                </a:srgbClr>
              </a:gs>
              <a:gs pos="45000">
                <a:srgbClr val="6C5CFF">
                  <a:alpha val="16078"/>
                </a:srgbClr>
              </a:gs>
              <a:gs pos="70000">
                <a:srgbClr val="6C5CFF">
                  <a:alpha val="0"/>
                </a:srgbClr>
              </a:gs>
              <a:gs pos="100000">
                <a:srgbClr val="6C5C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1" name="Google Shape;6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94542"/>
            <a:ext cx="2095502" cy="694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2" name="Google Shape;6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5925" y="762000"/>
            <a:ext cx="2190750" cy="1054418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15"/>
          <p:cNvSpPr/>
          <p:nvPr/>
        </p:nvSpPr>
        <p:spPr>
          <a:xfrm>
            <a:off x="957695" y="4295299"/>
            <a:ext cx="1428900" cy="573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E0C2"/>
              </a:gs>
              <a:gs pos="42000">
                <a:srgbClr val="2563EB"/>
              </a:gs>
              <a:gs pos="72000">
                <a:srgbClr val="6C5CFF"/>
              </a:gs>
              <a:gs pos="100000">
                <a:srgbClr val="FF4D9D"/>
              </a:gs>
            </a:gsLst>
            <a:lin ang="2700006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5"/>
          <p:cNvSpPr/>
          <p:nvPr/>
        </p:nvSpPr>
        <p:spPr>
          <a:xfrm>
            <a:off x="914400" y="4457224"/>
            <a:ext cx="18105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70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600"/>
              <a:buFont typeface="Sora"/>
              <a:buNone/>
            </a:pPr>
            <a:r>
              <a:rPr b="1" lang="en-US" sz="660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Gracias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/>
          <p:nvPr/>
        </p:nvSpPr>
        <p:spPr>
          <a:xfrm>
            <a:off x="914400" y="5905024"/>
            <a:ext cx="18105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rgbClr val="A8B2C3"/>
              </a:buClr>
              <a:buSzPts val="2100"/>
              <a:buFont typeface="Sora"/>
              <a:buNone/>
            </a:pPr>
            <a:r>
              <a:rPr lang="en-US" sz="2100">
                <a:solidFill>
                  <a:srgbClr val="A8B2C3"/>
                </a:solidFill>
                <a:latin typeface="Sora"/>
                <a:ea typeface="Sora"/>
                <a:cs typeface="Sora"/>
                <a:sym typeface="Sora"/>
              </a:rPr>
              <a:t>Preguntas y comentarios sobre el Proyecto APT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914400" y="8393430"/>
            <a:ext cx="164592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914400" y="8743950"/>
            <a:ext cx="104393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SIGMA · Sistema Integrado de Gestión de Mantenimiento Industrial</a:t>
            </a:r>
            <a:endParaRPr b="1" sz="1650">
              <a:solidFill>
                <a:srgbClr val="F8FAFC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Sora"/>
              <a:buNone/>
            </a:pPr>
            <a:r>
              <a:rPr b="1" lang="en-US" sz="1650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650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Bryan Chávez · Catalina Pescio · Emilio Fuentes — Ingeniería en Informática, Duoc UC Plaza Norte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/>
          <p:nvPr/>
        </p:nvSpPr>
        <p:spPr>
          <a:xfrm>
            <a:off x="17202984" y="9129713"/>
            <a:ext cx="24681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056"/>
              </a:lnSpc>
              <a:spcBef>
                <a:spcPts val="0"/>
              </a:spcBef>
              <a:spcAft>
                <a:spcPts val="0"/>
              </a:spcAft>
              <a:buClr>
                <a:srgbClr val="8D99AA"/>
              </a:buClr>
              <a:buSzPts val="1275"/>
              <a:buFont typeface="Sora"/>
              <a:buNone/>
            </a:pPr>
            <a:r>
              <a:rPr lang="en-US" sz="1275">
                <a:solidFill>
                  <a:srgbClr val="8D99AA"/>
                </a:solidFill>
                <a:latin typeface="Sora"/>
                <a:ea typeface="Sora"/>
                <a:cs typeface="Sora"/>
                <a:sym typeface="Sora"/>
              </a:rPr>
              <a:t>15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15" title="sigma-ai-wordmark-dark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150" y="1275993"/>
            <a:ext cx="2218351" cy="2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2026-08-28T00:57:14Z</dcterms:created>
  <dc:creator>PptxGenJS</dc:creator>
</cp:coreProperties>
</file>